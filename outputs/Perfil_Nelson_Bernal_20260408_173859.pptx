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25" dt="2026-04-08T22:14:07.4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custSel modSld">
      <pc:chgData name="Bernal Cubillas, Nelson Eduardo" userId="80dca19b-7620-4a8a-8a4a-74ed424ff3cf" providerId="ADAL" clId="{32BBAB07-2159-46C7-9B6D-E3769CDAC38B}" dt="2026-04-08T22:24:43.303" v="392" actId="20577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8T22:24:43.303" v="392" actId="20577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8T21:23:58.431" v="36" actId="20577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2:14:20.213" v="362" actId="20577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24:43.303" v="392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8T22:13:42.057" v="284" actId="20577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8T22:14:38.472" v="390" actId="20577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grpChg chg="mod">
          <ac:chgData name="Bernal Cubillas, Nelson Eduardo" userId="80dca19b-7620-4a8a-8a4a-74ed424ff3cf" providerId="ADAL" clId="{32BBAB07-2159-46C7-9B6D-E3769CDAC38B}" dt="2026-04-08T21:24:23.720" v="42" actId="1076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8T22:14:15.140" v="348" actId="1076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8T22:14:33.720" v="384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8/04/2026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152382" y="2292364"/>
            <a:ext cx="4306639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110279" y="-765430"/>
            <a:ext cx="1781317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49275"/>
            <a:ext cx="3457575" cy="873125"/>
          </a:xfrm>
        </p:spPr>
        <p:txBody>
          <a:bodyPr rIns="72000"/>
          <a:lstStyle/>
          <a:p>
            <a:r>
              <a:rPr sz="2400">
                <a:solidFill>
                  <a:srgbClr val="FFFFFF"/>
                </a:solidFill>
              </a:rPr>
              <a:t>Nelson Bernal
</a:t>
            </a:r>
            <a:r>
              <a:rPr sz="2800">
                <a:solidFill>
                  <a:srgbClr val="FFFFFF"/>
                </a:solidFill>
              </a:rPr>
              <a:t>Manager | Inteligencia Artificial</a:t>
            </a:r>
            <a:endParaRPr lang="en-GB" sz="1800" dirty="0" err="1">
              <a:solidFill>
                <a:schemeClr val="bg1"/>
              </a:solidFill>
            </a:endParaRPr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323850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Gerente de IA con experiencia en liderazgo de proyectos de innovación y diseño de roadmaps de implementación. Experto en optimización de procesos y generación de ahorros significativos en el sector bancario.</a:t>
            </a:r>
            <a:endParaRPr lang="es-PE" sz="1200" dirty="0">
              <a:ea typeface="+mn-lt"/>
              <a:cs typeface="+mn-lt"/>
            </a:endParaRPr>
          </a:p>
          <a:p>
            <a:pPr>
              <a:defRPr/>
            </a:pPr>
            <a:endParaRPr lang="es-PE" sz="1200" dirty="0"/>
          </a:p>
          <a:p>
            <a:pPr>
              <a:defRPr/>
            </a:pPr>
            <a:endParaRPr lang="es-ES" sz="1200" dirty="0"/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Lideré las prácticas de Inteligencia Artificial y Banca Corporativa en Minsait, gestionando un equipo de 62 consultores y contribuyendo al crecimiento de la oficina de Perú en 7.5x en 2 años.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Desarrollé una herramienta de conciliación que generó USD 12.5M en ahorros y lancé un canal digital prime banking aumentando la efectividad comercial en 60.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Diseñé la hoja de ruta nacional de Open Banking junto al Banco Central de Reserva del Perú, definiendo el modelo de iniciación de pagos.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Rediseñé procesos de atención al cliente en Credicorp, reduciendo tiempos de respuesta en 80% mediante automatización e integración de chatbots.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2089828"/>
            <a:ext cx="3251921" cy="20281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M.B.A., STEM-Certified Program, Emory University, 2025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Ingeniero Industrial, Pontificia Universidad Católica del Perú, 2016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Lean Six Sigma Black Belt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Scrum Master Certified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646162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ES" sz="1600" dirty="0"/>
              <a:t>Conocimientos Clave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lang="es-PE" sz="1200" dirty="0"/>
              <a:t>Inteligencia Artificial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lang="es-PE" sz="1200" dirty="0"/>
              <a:t>Open Banking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lang="es-PE" sz="1200" dirty="0"/>
              <a:t>SQL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lang="es-PE" sz="1200" dirty="0"/>
              <a:t>Python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lang="es-PE" sz="1200" dirty="0"/>
              <a:t>Power BI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lang="es-PE" sz="1200" dirty="0"/>
              <a:t>RPA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lang="es-PE" sz="1200" dirty="0"/>
              <a:t>Chatbots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lang="es-PE" sz="1200" dirty="0"/>
              <a:t>Machine Learning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lang="es-PE" sz="1200" dirty="0"/>
              <a:t>BI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lang="es-PE" sz="1200" dirty="0"/>
              <a:t>CRM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lang="es-PE" sz="1200" dirty="0"/>
              <a:t>Design Thinking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/>
          <p:nvPr/>
        </p:nvCxnSpPr>
        <p:spPr>
          <a:xfrm>
            <a:off x="335360" y="3587555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5502504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 e Inglés</a:t>
            </a:r>
            <a:endParaRPr lang="es-PE" sz="1200" dirty="0">
              <a:ea typeface="+mn-lt"/>
              <a:cs typeface="+mn-lt"/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5443897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1092</TotalTime>
  <Words>44</Words>
  <Application>Microsoft Office PowerPoint</Application>
  <PresentationFormat>Panorámica</PresentationFormat>
  <Paragraphs>15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{{Rol_Seniority}}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2026-04-08T22:24:44Z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