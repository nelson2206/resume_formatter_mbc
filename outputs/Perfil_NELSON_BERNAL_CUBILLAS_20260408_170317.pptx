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9CDDE-3C67-2AD1-6B58-638D625F7F83}" v="129" dt="2026-03-27T12:30:54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Tarazona Damian, Darlyn Isabel" userId="S::ditarazona@minsait.com::0a12066a-91b6-409f-86e9-251b8fc28aeb" providerId="AD" clId="Web-{5C19CDDE-3C67-2AD1-6B58-638D625F7F83}" dt="2026-03-27T12:30:54.212" v="74" actId="14100"/>
          <ac:spMkLst>
            <pc:docMk/>
            <pc:sldMk cId="2513515205" sldId="786"/>
            <ac:spMk id="2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31/03/2026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lang="es-ES" dirty="0">
                <a:solidFill>
                  <a:schemeClr val="bg1"/>
                </a:solidFill>
              </a:rPr>
              <a:t>Eva Rodríguez Castillo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sz="1800" dirty="0" err="1">
                <a:solidFill>
                  <a:schemeClr val="bg1"/>
                </a:solidFill>
              </a:rPr>
              <a:t>Consultant</a:t>
            </a:r>
            <a:endParaRPr lang="en-GB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lang="es-ES" sz="1200" dirty="0">
                <a:ea typeface="+mn-lt"/>
                <a:cs typeface="+mn-lt"/>
              </a:rPr>
              <a:t>Economista </a:t>
            </a:r>
            <a:r>
              <a:rPr lang="es-PE" sz="1200" dirty="0"/>
              <a:t>economista con más de 5 años de experiencia en el sistema financiero, con foco en </a:t>
            </a:r>
            <a:r>
              <a:rPr lang="es-PE" sz="1200" b="1" dirty="0"/>
              <a:t>operaciones de tesorería, control de riesgos y mejora de procesos</a:t>
            </a:r>
            <a:r>
              <a:rPr lang="es-PE" sz="1200" dirty="0"/>
              <a:t> dentro de entornos de </a:t>
            </a:r>
            <a:r>
              <a:rPr lang="es-PE" sz="1200" b="1" dirty="0"/>
              <a:t>mesa de dinero</a:t>
            </a:r>
            <a:r>
              <a:rPr lang="es-PE" sz="1200" dirty="0"/>
              <a:t>.</a:t>
            </a:r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</a:t>
            </a:r>
            <a:r>
              <a:rPr lang="es-PE" sz="1200" dirty="0" err="1"/>
              <a:t>Murex</a:t>
            </a:r>
            <a:r>
              <a:rPr lang="es-PE" sz="1200" dirty="0"/>
              <a:t>, asegurando el control operativo y la correcta exposición al riesgo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</a:t>
            </a:r>
            <a:r>
              <a:rPr lang="es-PE" sz="1200" dirty="0" err="1"/>
              <a:t>dashboards</a:t>
            </a:r>
            <a:r>
              <a:rPr lang="es-PE" sz="1200" dirty="0"/>
              <a:t> en </a:t>
            </a:r>
            <a:r>
              <a:rPr lang="es-PE" sz="1200" dirty="0" err="1"/>
              <a:t>Power</a:t>
            </a:r>
            <a:r>
              <a:rPr lang="es-PE" sz="1200" dirty="0"/>
              <a:t> BI para el monitoreo de indicadores operativos y de riesgo crediticio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</a:t>
            </a:r>
            <a:r>
              <a:rPr lang="es-PE" sz="1200" dirty="0" err="1"/>
              <a:t>Power</a:t>
            </a:r>
            <a:r>
              <a:rPr lang="es-PE" sz="1200" dirty="0"/>
              <a:t> Apps y </a:t>
            </a:r>
            <a:r>
              <a:rPr lang="es-PE" sz="1200" dirty="0" err="1"/>
              <a:t>Power</a:t>
            </a:r>
            <a:r>
              <a:rPr lang="es-PE" sz="1200" dirty="0"/>
              <a:t> </a:t>
            </a:r>
            <a:r>
              <a:rPr lang="es-PE" sz="1200" dirty="0" err="1"/>
              <a:t>Automate</a:t>
            </a:r>
            <a:r>
              <a:rPr lang="es-PE" sz="1200" dirty="0"/>
              <a:t> para optimizar procesos internos del área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Optimicé procesos internos mediante automatización, logrando eficiencias en tiempos operativos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</a:t>
            </a:r>
            <a:r>
              <a:rPr lang="es-PE" sz="1200" dirty="0" err="1"/>
              <a:t>Power</a:t>
            </a:r>
            <a:r>
              <a:rPr lang="es-PE" sz="1200" dirty="0"/>
              <a:t> Apps, </a:t>
            </a:r>
            <a:r>
              <a:rPr lang="es-PE" sz="1200" dirty="0" err="1"/>
              <a:t>chatbot</a:t>
            </a:r>
            <a:r>
              <a:rPr lang="es-PE" sz="1200" dirty="0"/>
              <a:t>) para mejorar procesos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</a:t>
            </a: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2700">
              <a:spcBef>
                <a:spcPts val="610"/>
              </a:spcBef>
              <a:defRPr/>
            </a:pPr>
            <a:r>
              <a:rPr lang="es-PE" sz="1200" dirty="0">
                <a:cs typeface="Soho Gothic Pro Light"/>
              </a:rPr>
              <a:t>Bachiller en Ciencias Financieras y Contables</a:t>
            </a:r>
            <a:endParaRPr lang="es-ES" sz="1200" dirty="0">
              <a:cs typeface="Soho Gothic Pro Light"/>
            </a:endParaRPr>
          </a:p>
        </p:txBody>
      </p:sp>
      <p:sp>
        <p:nvSpPr>
          <p:cNvPr id="21" name="object 10"/>
          <p:cNvSpPr txBox="1"/>
          <p:nvPr/>
        </p:nvSpPr>
        <p:spPr>
          <a:xfrm>
            <a:off x="323799" y="5336933"/>
            <a:ext cx="3600000" cy="612347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 defTabSz="914400">
              <a:spcBef>
                <a:spcPts val="815"/>
              </a:spcBef>
              <a:defRPr/>
            </a:pPr>
            <a:r>
              <a:rPr sz="1600" dirty="0"/>
              <a:t>Idiomas</a:t>
            </a:r>
          </a:p>
          <a:p>
            <a:pPr marL="12700" lvl="0">
              <a:spcBef>
                <a:spcPts val="610"/>
              </a:spcBef>
              <a:defRPr/>
            </a:pPr>
            <a:r>
              <a:rPr lang="es-ES" sz="1200" dirty="0"/>
              <a:t>Español e Inglés</a:t>
            </a:r>
            <a:endParaRPr sz="1200" dirty="0"/>
          </a:p>
        </p:txBody>
      </p:sp>
      <p:sp>
        <p:nvSpPr>
          <p:cNvPr id="22" name="object 10"/>
          <p:cNvSpPr txBox="1"/>
          <p:nvPr/>
        </p:nvSpPr>
        <p:spPr>
          <a:xfrm>
            <a:off x="333825" y="2950091"/>
            <a:ext cx="3422368" cy="2320507"/>
          </a:xfrm>
          <a:prstGeom prst="rect">
            <a:avLst/>
          </a:prstGeom>
        </p:spPr>
        <p:txBody>
          <a:bodyPr vert="horz" wrap="square" lIns="0" tIns="103505" rIns="0" bIns="0" rtlCol="0" anchor="t">
            <a:spAutoFit/>
          </a:bodyPr>
          <a:lstStyle/>
          <a:p>
            <a:pPr marL="12700" defTabSz="9144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>
                <a:ea typeface="+mn-lt"/>
                <a:cs typeface="+mn-lt"/>
              </a:rPr>
              <a:t>Control de líneas de crédito y riesgo en operaciones financieras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>
                <a:ea typeface="+mn-lt"/>
                <a:cs typeface="+mn-lt"/>
              </a:rPr>
              <a:t>Operaciones de mesa de dinero (soporte y control)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 err="1">
                <a:ea typeface="+mn-lt"/>
                <a:cs typeface="+mn-lt"/>
              </a:rPr>
              <a:t>Murex</a:t>
            </a:r>
            <a:r>
              <a:rPr lang="es-PE" sz="1200" dirty="0">
                <a:ea typeface="+mn-lt"/>
                <a:cs typeface="+mn-lt"/>
              </a:rPr>
              <a:t> (uso para revisión y control de operaciones)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 err="1">
                <a:ea typeface="+mn-lt"/>
                <a:cs typeface="+mn-lt"/>
              </a:rPr>
              <a:t>Power</a:t>
            </a:r>
            <a:r>
              <a:rPr lang="es-PE" sz="1200" dirty="0">
                <a:ea typeface="+mn-lt"/>
                <a:cs typeface="+mn-lt"/>
              </a:rPr>
              <a:t> BI, </a:t>
            </a:r>
            <a:r>
              <a:rPr lang="es-PE" sz="1200" dirty="0" err="1">
                <a:ea typeface="+mn-lt"/>
                <a:cs typeface="+mn-lt"/>
              </a:rPr>
              <a:t>Power</a:t>
            </a:r>
            <a:r>
              <a:rPr lang="es-PE" sz="1200" dirty="0">
                <a:ea typeface="+mn-lt"/>
                <a:cs typeface="+mn-lt"/>
              </a:rPr>
              <a:t> Apps, </a:t>
            </a:r>
            <a:r>
              <a:rPr lang="es-PE" sz="1200" dirty="0" err="1">
                <a:ea typeface="+mn-lt"/>
                <a:cs typeface="+mn-lt"/>
              </a:rPr>
              <a:t>Power</a:t>
            </a:r>
            <a:r>
              <a:rPr lang="es-PE" sz="1200" dirty="0">
                <a:ea typeface="+mn-lt"/>
                <a:cs typeface="+mn-lt"/>
              </a:rPr>
              <a:t> </a:t>
            </a:r>
            <a:r>
              <a:rPr lang="es-PE" sz="1200" dirty="0" err="1">
                <a:ea typeface="+mn-lt"/>
                <a:cs typeface="+mn-lt"/>
              </a:rPr>
              <a:t>Automate</a:t>
            </a:r>
            <a:endParaRPr lang="es-PE" sz="1200" dirty="0">
              <a:ea typeface="+mn-lt"/>
              <a:cs typeface="+mn-lt"/>
            </a:endParaRP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>
                <a:ea typeface="+mn-lt"/>
                <a:cs typeface="+mn-lt"/>
              </a:rPr>
              <a:t>SQL, Python, Visual Basic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>
                <a:ea typeface="+mn-lt"/>
                <a:cs typeface="+mn-lt"/>
              </a:rPr>
              <a:t>Automatización y mejora de procesos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0B357CF-A983-E219-B526-FCC6D7384172}"/>
              </a:ext>
            </a:extLst>
          </p:cNvPr>
          <p:cNvCxnSpPr/>
          <p:nvPr/>
        </p:nvCxnSpPr>
        <p:spPr>
          <a:xfrm>
            <a:off x="335360" y="294297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537321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335</Words>
  <Application>Microsoft Office PowerPoint</Application>
  <PresentationFormat>Panorámica</PresentationFormat>
  <Paragraphs>31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Eva Rodríguez Castillo Consultant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2026-03-31T21:58:01Z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