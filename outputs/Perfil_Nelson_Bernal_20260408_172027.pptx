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25" dt="2026-04-08T22:14:07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Tarazona Damian, Darlyn Isabel" userId="S::ditarazona@minsait.com::0a12066a-91b6-409f-86e9-251b8fc28aeb" providerId="AD" clId="Web-{5C19CDDE-3C67-2AD1-6B58-638D625F7F83}" dt="2026-03-27T12:30:54.212" v="74" actId="14100"/>
          <ac:spMkLst>
            <pc:docMk/>
            <pc:sldMk cId="2513515205" sldId="786"/>
            <ac:spMk id="22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custSel modSld">
      <pc:chgData name="Bernal Cubillas, Nelson Eduardo" userId="80dca19b-7620-4a8a-8a4a-74ed424ff3cf" providerId="ADAL" clId="{32BBAB07-2159-46C7-9B6D-E3769CDAC38B}" dt="2026-04-08T22:16:06.953" v="391" actId="20577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8T22:16:06.953" v="391" actId="20577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8T21:23:58.431" v="36" actId="20577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2:14:20.213" v="362" actId="20577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16:06.953" v="391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13:42.057" v="284" actId="20577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14:38.472" v="390" actId="20577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grpChg chg="mod">
          <ac:chgData name="Bernal Cubillas, Nelson Eduardo" userId="80dca19b-7620-4a8a-8a4a-74ed424ff3cf" providerId="ADAL" clId="{32BBAB07-2159-46C7-9B6D-E3769CDAC38B}" dt="2026-04-08T21:24:23.720" v="42" actId="1076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8T22:14:15.140" v="348" actId="1076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8T22:14:33.720" v="384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8/04/2026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152382" y="2292364"/>
            <a:ext cx="4306639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110279" y="-765430"/>
            <a:ext cx="1781317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r>
              <a:t>Nelson Bernal</a:t>
            </a:r>
            <a:br/>
            <a:r>
              <a:t>Manager | Inteligencia Artificial</a:t>
            </a:r>
            <a:endParaRPr lang="en-GB" sz="1800" dirty="0" err="1">
              <a:solidFill>
                <a:schemeClr val="bg1"/>
              </a:solidFill>
            </a:endParaRPr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t>Gerente de IA con experiencia en liderazgo de proyectos de innovación y diseño de roadmaps de implementación. Experto en optimización de procesos y generación de ahorros significativos en el sector bancario.</a:t>
            </a:r>
            <a:endParaRPr lang="es-PE" sz="1200" dirty="0">
              <a:ea typeface="+mn-lt"/>
              <a:cs typeface="+mn-lt"/>
            </a:endParaRPr>
          </a:p>
          <a:p>
            <a:pPr>
              <a:defRPr/>
            </a:pPr>
            <a:endParaRPr lang="es-PE" sz="1200" dirty="0"/>
          </a:p>
          <a:p>
            <a:pPr>
              <a:defRPr/>
            </a:pPr>
            <a:endParaRPr lang="es-ES" sz="1200" dirty="0"/>
          </a:p>
          <a:p>
            <a:pPr>
              <a:defRPr/>
            </a:pPr>
            <a:endParaRPr lang="es-ES" sz="1200" dirty="0"/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Lideré las prácticas de Inteligencia Artificial y Banca Corporativa en Minsait, gestionando un equipo de 62 consultores y contribuyendo al crecimiento de la oficina de Perú en 7.5x en 2 años.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una herramienta de conciliación que generó USD 12.5M en ahorros para un banco, y lancé un canal digital prime banking que aumentó la efectividad comercial en 60%.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Diseñé la hoja de ruta nacional de Open Banking junto al Banco Central de Reserva del Perú, definiendo el modelo de iniciación de pagos mediante talleres multisectoriales.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Rediseñé procesos de atención al cliente en Credicorp, implementando un sistema de tickets que redujo tiempos de respuesta en 80% y aumentó la satisfacción en 250%.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Lideré la selección e implementación de un CRM en Credicorp, automatizando flujos de ventas y generando más de 1,000 leads al mes.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2089828"/>
            <a:ext cx="3251921" cy="20281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t>M.B.A., STEM-Certified Program, Emory University, 2025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{{Certificaciones}}</a:t>
            </a:r>
            <a:endParaRPr lang="es-ES" sz="1200" dirty="0"/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646162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ES" sz="1600" dirty="0"/>
              <a:t>Conocimientos Clave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{{</a:t>
            </a:r>
            <a:r>
              <a:rPr lang="es-PE" sz="1200" dirty="0" err="1"/>
              <a:t>conocimientos_clave</a:t>
            </a:r>
            <a:r>
              <a:rPr lang="es-PE" sz="1200" dirty="0"/>
              <a:t>}}</a:t>
            </a:r>
            <a:endParaRPr lang="es-PE" sz="1200" dirty="0">
              <a:ea typeface="+mn-lt"/>
              <a:cs typeface="+mn-lt"/>
            </a:endParaRP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/>
          <p:nvPr/>
        </p:nvCxnSpPr>
        <p:spPr>
          <a:xfrm>
            <a:off x="335360" y="3587555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5502504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{{idiomas}}</a:t>
            </a:r>
            <a:endParaRPr lang="es-PE" sz="1200" dirty="0">
              <a:ea typeface="+mn-lt"/>
              <a:cs typeface="+mn-lt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5443897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2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1089</TotalTime>
  <Words>44</Words>
  <Application>Microsoft Office PowerPoint</Application>
  <PresentationFormat>Panorámica</PresentationFormat>
  <Paragraphs>16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{{Rol_Seniority}}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2026-04-08T22:16:10Z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