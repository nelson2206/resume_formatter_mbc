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1" dt="2026-04-08T21:38:41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Tarazona Damian, Darlyn Isabel" userId="S::ditarazona@minsait.com::0a12066a-91b6-409f-86e9-251b8fc28aeb" providerId="AD" clId="Web-{5C19CDDE-3C67-2AD1-6B58-638D625F7F83}" dt="2026-03-27T12:30:54.212" v="74" actId="14100"/>
          <ac:spMkLst>
            <pc:docMk/>
            <pc:sldMk cId="2513515205" sldId="786"/>
            <ac:spMk id="22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1:38:45.218" v="266" actId="20577"/>
      <pc:docMkLst>
        <pc:docMk/>
      </pc:docMkLst>
      <pc:sldChg chg="modSp mod">
        <pc:chgData name="Bernal Cubillas, Nelson Eduardo" userId="80dca19b-7620-4a8a-8a4a-74ed424ff3cf" providerId="ADAL" clId="{32BBAB07-2159-46C7-9B6D-E3769CDAC38B}" dt="2026-04-08T21:38:45.218" v="266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8:45.218" v="26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25:04.570" v="82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8:15.597" v="219" actId="1035"/>
          <ac:spMkLst>
            <pc:docMk/>
            <pc:sldMk cId="2513515205" sldId="786"/>
            <ac:spMk id="21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7:57.119" v="170" actId="2057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mod">
          <ac:chgData name="Bernal Cubillas, Nelson Eduardo" userId="80dca19b-7620-4a8a-8a4a-74ed424ff3cf" providerId="ADAL" clId="{32BBAB07-2159-46C7-9B6D-E3769CDAC38B}" dt="2026-04-08T21:38:13.054" v="206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endParaRPr lang="en-GB" sz="1800" dirty="0" err="1">
              <a:solidFill>
                <a:schemeClr val="bg1"/>
              </a:solidFill>
            </a:endParaRPr>
            <a:r>
              <a:rPr lang="es-PE" dirty="0">
                <a:solidFill>
                  <a:schemeClr val="bg1"/>
                </a:solidFill>
              </a:rPr>
              <a:t>NELSON BERNAL CUBILLAS</a:t>
            </a: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r>
              <a:rPr lang="es-PE" sz="1200"/>
              <a:t>Gerente de IA con experiencia en liderazgo de proyectos de innovación y diseño de roadmaps de implementación. Ha logrado significativos ahorros y mejoras en la eficiencia operativa en el sector bancario.</a:t>
            </a: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las prácticas de Inteligencia Artificial y Banca Corporativa en Minsait, gestionando un equipo de 62 consultores y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entre contabilidad y gestión que generó USD 12.5M en ahorros para un banco de primer nivel; lancé un canal digital prime banking aumentando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estratégicos para un banco top del país, trabajando con la C-suite para lanzar una tarjeta corporativa, incrementar el volumen de operaciones FX y optimizar la priorización comercial logrando USD 10M en ahorros.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 mediante talleres multisectoriales, definiendo el modelo de iniciación de pagos.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 en 390 agencias, definiendo estándares, herramientas y sistemas de seguimiento.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 los USD 5.7M en ahorros contables mediante la revisión de asientos contables e identificación de ineficiencias operativas y de cobranzas.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 e implementé un sistema de tickets, reduciendo tiempos de respuesta en 80% mediante automatización e integración de chatbots, aumentando la satisfacción en 250%.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sistema de saldos financieros en tiempo real utilizando SQL y BI para monitorear transacciones y generar resultados diarios sobre montos de hasta USD 100M.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 selección e implementación de un CRM para gestión comercial, automatizando flujos de ventas y aplicando un modelo de lead scoring que generó y priorizó más de 1,000 leads al mes.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equipo de 2 analistas en MDP Consulting, creando la unidad interna de consultoría e implementando automatización de procesos, generando ahorros al año de USD 600K en el sector bancario y seguros.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  <a:r>
              <a:rPr lang="es-PE" sz="1200" dirty="0"/>
              <a:t>M.B.A., STEM-Certified Program, Emory University, Goizueta Business School, 2025</a:t>
            </a:r>
          </a:p>
        </p:txBody>
      </p:sp>
      <p:sp>
        <p:nvSpPr>
          <p:cNvPr id="21" name="object 10"/>
          <p:cNvSpPr txBox="1"/>
          <p:nvPr/>
        </p:nvSpPr>
        <p:spPr>
          <a:xfrm>
            <a:off x="323799" y="4991875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SQL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Python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Power BI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CRM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RPA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Machine Learning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Español Nativo | Inglés Avanzado</a:t>
            </a:r>
          </a:p>
        </p:txBody>
      </p:sp>
      <p:sp>
        <p:nvSpPr>
          <p:cNvPr id="22" name="object 10"/>
          <p:cNvSpPr txBox="1"/>
          <p:nvPr/>
        </p:nvSpPr>
        <p:spPr>
          <a:xfrm>
            <a:off x="333825" y="2950091"/>
            <a:ext cx="3422368" cy="586699"/>
          </a:xfrm>
          <a:prstGeom prst="rect">
            <a:avLst/>
          </a:prstGeom>
        </p:spPr>
        <p:txBody>
          <a:bodyPr vert="horz" wrap="square" lIns="0" tIns="103505" rIns="0" bIns="0" rtlCol="0" anchor="t">
            <a:spAutoFit/>
          </a:bodyPr>
          <a:lstStyle/>
          <a:p>
            <a:pPr marL="12700" defTabSz="914400">
              <a:spcBef>
                <a:spcPts val="815"/>
              </a:spcBef>
              <a:defRPr/>
            </a:pPr>
            <a:r>
              <a:rPr lang="es-ES" sz="1600" dirty="0"/>
              <a:t>Certificaciones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Scrum Master Certified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0B357CF-A983-E219-B526-FCC6D7384172}"/>
              </a:ext>
            </a:extLst>
          </p:cNvPr>
          <p:cNvCxnSpPr/>
          <p:nvPr/>
        </p:nvCxnSpPr>
        <p:spPr>
          <a:xfrm>
            <a:off x="335360" y="294297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4933268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43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