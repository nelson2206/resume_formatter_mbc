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31" dt="2026-04-08T22:54:10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70" d="100"/>
          <a:sy n="70" d="100"/>
        </p:scale>
        <p:origin x="3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redo custSel modSld">
      <pc:chgData name="Bernal Cubillas, Nelson Eduardo" userId="80dca19b-7620-4a8a-8a4a-74ed424ff3cf" providerId="ADAL" clId="{32BBAB07-2159-46C7-9B6D-E3769CDAC38B}" dt="2026-04-09T17:15:20.797" v="712" actId="1036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9T17:15:20.797" v="712" actId="1036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9T17:13:38.162" v="706" actId="1035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3:05:13.286" v="604" actId="14100"/>
          <ac:spMkLst>
            <pc:docMk/>
            <pc:sldMk cId="2513515205" sldId="786"/>
            <ac:spMk id="4" creationId="{352F5EBC-81D3-03E4-B2F1-389198AB070D}"/>
          </ac:spMkLst>
        </pc:spChg>
        <pc:spChg chg="add mod">
          <ac:chgData name="Bernal Cubillas, Nelson Eduardo" userId="80dca19b-7620-4a8a-8a4a-74ed424ff3cf" providerId="ADAL" clId="{32BBAB07-2159-46C7-9B6D-E3769CDAC38B}" dt="2026-04-08T23:01:33.120" v="596" actId="1035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44:33.970" v="536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13:34.196" v="704" actId="1035"/>
          <ac:spMkLst>
            <pc:docMk/>
            <pc:sldMk cId="2513515205" sldId="786"/>
            <ac:spMk id="13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1.715" v="689" actId="1036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9.301" v="695" actId="1035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spChg chg="add del mod">
          <ac:chgData name="Bernal Cubillas, Nelson Eduardo" userId="80dca19b-7620-4a8a-8a4a-74ed424ff3cf" providerId="ADAL" clId="{32BBAB07-2159-46C7-9B6D-E3769CDAC38B}" dt="2026-04-08T22:41:54.468" v="450" actId="478"/>
          <ac:spMkLst>
            <pc:docMk/>
            <pc:sldMk cId="2513515205" sldId="786"/>
            <ac:spMk id="27" creationId="{D58EC518-9311-2EFB-451F-C9EA6AE0A31C}"/>
          </ac:spMkLst>
        </pc:spChg>
        <pc:spChg chg="add del mod">
          <ac:chgData name="Bernal Cubillas, Nelson Eduardo" userId="80dca19b-7620-4a8a-8a4a-74ed424ff3cf" providerId="ADAL" clId="{32BBAB07-2159-46C7-9B6D-E3769CDAC38B}" dt="2026-04-08T22:54:07.279" v="541" actId="478"/>
          <ac:spMkLst>
            <pc:docMk/>
            <pc:sldMk cId="2513515205" sldId="786"/>
            <ac:spMk id="28" creationId="{CEC88605-79F8-AD26-E7AD-92650CBC4E5D}"/>
          </ac:spMkLst>
        </pc:spChg>
        <pc:spChg chg="add del mod">
          <ac:chgData name="Bernal Cubillas, Nelson Eduardo" userId="80dca19b-7620-4a8a-8a4a-74ed424ff3cf" providerId="ADAL" clId="{32BBAB07-2159-46C7-9B6D-E3769CDAC38B}" dt="2026-04-08T22:42:47.402" v="505" actId="478"/>
          <ac:spMkLst>
            <pc:docMk/>
            <pc:sldMk cId="2513515205" sldId="786"/>
            <ac:spMk id="30" creationId="{BEF9FF97-375A-C0E5-842E-60FF4770C7C6}"/>
          </ac:spMkLst>
        </pc:spChg>
        <pc:spChg chg="add mod">
          <ac:chgData name="Bernal Cubillas, Nelson Eduardo" userId="80dca19b-7620-4a8a-8a4a-74ed424ff3cf" providerId="ADAL" clId="{32BBAB07-2159-46C7-9B6D-E3769CDAC38B}" dt="2026-04-09T17:15:20.797" v="712" actId="1036"/>
          <ac:spMkLst>
            <pc:docMk/>
            <pc:sldMk cId="2513515205" sldId="786"/>
            <ac:spMk id="31" creationId="{AAF6E294-FA1E-71FD-C51A-7217518E89F0}"/>
          </ac:spMkLst>
        </pc:spChg>
        <pc:grpChg chg="mod">
          <ac:chgData name="Bernal Cubillas, Nelson Eduardo" userId="80dca19b-7620-4a8a-8a4a-74ed424ff3cf" providerId="ADAL" clId="{32BBAB07-2159-46C7-9B6D-E3769CDAC38B}" dt="2026-04-09T17:05:13.718" v="673" actId="14100"/>
          <ac:grpSpMkLst>
            <pc:docMk/>
            <pc:sldMk cId="2513515205" sldId="786"/>
            <ac:grpSpMk id="7" creationId="{E440AF01-6A91-899B-AF3B-3E15D8983490}"/>
          </ac:grpSpMkLst>
        </pc:grpChg>
        <pc:grpChg chg="mod">
          <ac:chgData name="Bernal Cubillas, Nelson Eduardo" userId="80dca19b-7620-4a8a-8a4a-74ed424ff3cf" providerId="ADAL" clId="{32BBAB07-2159-46C7-9B6D-E3769CDAC38B}" dt="2026-04-09T17:05:16.868" v="674" actId="14100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9T17:05:08.645" v="672" actId="1035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9T17:05:29.301" v="695" actId="1035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9/04/2026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649110" y="2280838"/>
            <a:ext cx="5300084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357493" y="-1012645"/>
            <a:ext cx="1286885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30987"/>
            <a:ext cx="3457575" cy="873125"/>
          </a:xfrm>
        </p:spPr>
        <p:txBody>
          <a:bodyPr rIns="72000"/>
          <a:lstStyle/>
          <a:p>
            <a:pPr/>
            <a:r>
              <a:rPr sz="2400">
                <a:solidFill>
                  <a:srgbClr val="FFFFFF"/>
                </a:solidFill>
              </a:rPr>
              <a:t>Abel Ponte</a:t>
            </a:r>
            <a:endParaRPr lang="en-GB" sz="1800" dirty="0" err="1">
              <a:solidFill>
                <a:schemeClr val="bg1"/>
              </a:solidFill>
            </a:endParaRPr>
            <a:pPr/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296418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r>
              <a:rPr sz="1200"/>
              <a:t>Consultor funcional con experiencia en CIB y tesorería en el sector bancario. Experto en soluciones de Calypso y análisis financiero. Focalizado en mejoras operativas y desarrollo de reportes automatizados.</a:t>
            </a:r>
            <a:endParaRPr lang="es-PE" sz="1200" dirty="0">
              <a:ea typeface="+mn-lt"/>
              <a:cs typeface="+mn-lt"/>
            </a:endParaRPr>
            <a:pPr>
              <a:defRPr/>
            </a:pPr>
          </a:p>
          <a:p>
            <a:pPr>
              <a:defRPr/>
            </a:pPr>
            <a:endParaRPr lang="es-PE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1433022"/>
            <a:ext cx="3369366" cy="14482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Bachiller en Ingeniería Industrial y de Sistemas, UP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Especialización en Mercado de Capitales y Gestión de Portafolios, BS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Especialización en Finanzas Corporativas, PUCP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Diplomado en Data Analytics,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/>
            </a:r>
          </a:p>
          <a:p>
            <a:pPr marL="12700">
              <a:spcBef>
                <a:spcPts val="610"/>
              </a:spcBef>
              <a:defRPr/>
            </a:pPr>
            <a:endParaRPr lang="es-PE" sz="1200" dirty="0"/>
          </a:p>
          <a:p>
            <a:pPr marL="12700">
              <a:spcBef>
                <a:spcPts val="610"/>
              </a:spcBef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706889"/>
            <a:ext cx="3211034" cy="273180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>
            <a:defPPr>
              <a:defRPr lang="es-PE"/>
            </a:defPPr>
            <a:lvl1pPr marL="12700" marR="0" lvl="0" indent="0" fontAlgn="auto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oho Gothic Pro Light"/>
              </a:defRPr>
            </a:lvl1pPr>
          </a:lstStyle>
          <a:p>
            <a:r>
              <a:rPr lang="es-ES" dirty="0"/>
              <a:t>Conocimientos Clave</a:t>
            </a:r>
            <a:endParaRPr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Calypso (Front y Middle Office)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Productos financieros: FX, swaps, repos, depósitos, bonds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Modelamiento financiero (P&amp;L, flujo de caja, presupuestos)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Metodologías ágiles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SQL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Data Analytics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>
            <a:cxnSpLocks/>
          </p:cNvCxnSpPr>
          <p:nvPr/>
        </p:nvCxnSpPr>
        <p:spPr>
          <a:xfrm>
            <a:off x="335360" y="374472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6045963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sz="1200"/>
              <a:t>Español</a:t>
            </a:r>
            <a:endParaRPr lang="es-PE" sz="1200" dirty="0">
              <a:ea typeface="+mn-lt"/>
              <a:cs typeface="+mn-lt"/>
            </a:endParaRPr>
            <a:pPr marL="171450" indent="-171450">
              <a:spcBef>
                <a:spcPts val="400"/>
              </a:spcBef>
              <a:buFont typeface="Arial"/>
              <a:buChar char="•"/>
              <a:defRPr/>
            </a:p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611830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52F5EBC-81D3-03E4-B2F1-389198AB070D}"/>
              </a:ext>
            </a:extLst>
          </p:cNvPr>
          <p:cNvSpPr txBox="1"/>
          <p:nvPr/>
        </p:nvSpPr>
        <p:spPr>
          <a:xfrm>
            <a:off x="258621" y="773315"/>
            <a:ext cx="3276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FFFFFF"/>
                </a:solidFill>
              </a:rPr>
              <a:t>Consultant | Data Science</a:t>
            </a:r>
            <a:endParaRPr lang="es-PE" dirty="0"/>
            <a:pPr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AF6E294-FA1E-71FD-C51A-7217518E89F0}"/>
              </a:ext>
            </a:extLst>
          </p:cNvPr>
          <p:cNvSpPr/>
          <p:nvPr/>
        </p:nvSpPr>
        <p:spPr>
          <a:xfrm>
            <a:off x="3934562" y="1403824"/>
            <a:ext cx="7837136" cy="5240054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Liderazgo funcional en implementación de soluciones para mesa de FX y derivados, impactando directamente en el revenue del banco.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Desarrollo de mejoras End-to-End (Front Office a Contabilidad) en entorno CIB.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Configuración de FX Volatility Surfaces para valoración de opciones en nuevos pares de monedas.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Participación en proyecto estratégico de Datalake integrado con Calypso.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Rol como consultor funcional Front/Middle Office en Calypso, automatizando productos de mercado de capitales.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 productos de Money Market en producción, mejorando eficiencia operativa.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Responsable funcional del producto Repo, cubriendo flujos FO y MO.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del módulo ERS-LIMITS (riesgos) para control de límites de crédito y trading.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Gestión de comunicación con stakeholders clave (traders, PMs, Product Owners, analistas).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Elaboración de presentaciones ejecutivas para soluciones de tesorería.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Modelamiento financiero completo: P&amp;L, flujo de caja y control presupuestal.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Análisis de EEFF y variaciones financieras para toma de decisiones.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 herramientas de control financiero (CxP, CxC).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Optimización de procesos financieros generando ahorros operativos.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Desarrollo de reportes automatizados en Excel y SQL para soporte a negocio.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1103</TotalTime>
  <Words>44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2026-04-09T17:15:22Z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