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9CDDE-3C67-2AD1-6B58-638D625F7F83}" v="129" dt="2026-03-27T12:30:54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Tarazona Damian, Darlyn Isabel" userId="S::ditarazona@minsait.com::0a12066a-91b6-409f-86e9-251b8fc28aeb" providerId="AD" clId="Web-{5C19CDDE-3C67-2AD1-6B58-638D625F7F83}" dt="2026-03-27T12:30:54.212" v="74" actId="14100"/>
          <ac:spMkLst>
            <pc:docMk/>
            <pc:sldMk cId="2513515205" sldId="786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image" Target="../media/image4.e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00815" y="2440795"/>
            <a:ext cx="4603501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lang="es-ES" dirty="0">
                <a:solidFill>
                  <a:schemeClr val="bg1"/>
                </a:solidFill>
              </a:rPr>
              <a:t>Abel Ponte García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sz="1800" dirty="0" err="1">
                <a:solidFill>
                  <a:schemeClr val="bg1"/>
                </a:solidFill>
              </a:rPr>
              <a:t>Consultant</a:t>
            </a:r>
            <a:endParaRPr lang="en-GB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lang="es-PE" sz="1200" dirty="0"/>
              <a:t>Profesional en CIB con experiencia en tesorería (FX, derivados, repos) en entorno bancario (BCP), desempeñándose como consultor funcional en </a:t>
            </a:r>
            <a:r>
              <a:rPr lang="es-PE" sz="1200" dirty="0" err="1"/>
              <a:t>Calypso</a:t>
            </a:r>
            <a:r>
              <a:rPr lang="es-PE" sz="1200" dirty="0"/>
              <a:t> (FO/MO).</a:t>
            </a:r>
            <a:br>
              <a:rPr lang="es-PE" sz="1200" dirty="0"/>
            </a:br>
            <a:r>
              <a:rPr lang="es-PE" sz="1200" dirty="0"/>
              <a:t>Ha participado en mejoras </a:t>
            </a:r>
            <a:r>
              <a:rPr lang="es-PE" sz="1200" dirty="0" err="1"/>
              <a:t>End-to-End</a:t>
            </a:r>
            <a:r>
              <a:rPr lang="es-PE" sz="1200" dirty="0"/>
              <a:t> y desarrollo de soluciones alineadas al negocio.</a:t>
            </a:r>
            <a:br>
              <a:rPr lang="es-PE" sz="1200" dirty="0"/>
            </a:br>
            <a:r>
              <a:rPr lang="es-PE" sz="1200" dirty="0"/>
              <a:t>Complementa con experiencia en FP&amp;A y conocimientos en análisis financiero, SQL y data </a:t>
            </a:r>
            <a:r>
              <a:rPr lang="es-PE" sz="1200" dirty="0" err="1"/>
              <a:t>analytics</a:t>
            </a:r>
            <a:r>
              <a:rPr lang="es-PE" sz="1200" dirty="0"/>
              <a:t>.</a:t>
            </a:r>
          </a:p>
          <a:p>
            <a:pPr>
              <a:defRPr/>
            </a:pPr>
            <a:endParaRPr lang="es-PE" sz="1200" dirty="0"/>
          </a:p>
          <a:p>
            <a:pPr>
              <a:defRPr/>
            </a:pPr>
            <a:endParaRPr lang="es-ES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</a:t>
            </a:r>
            <a:r>
              <a:rPr lang="es-PE" sz="1200" dirty="0" err="1"/>
              <a:t>revenue</a:t>
            </a:r>
            <a:r>
              <a:rPr lang="es-PE" sz="1200" dirty="0"/>
              <a:t> del banco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</a:t>
            </a:r>
            <a:r>
              <a:rPr lang="es-PE" sz="1200" dirty="0" err="1"/>
              <a:t>End-to-End</a:t>
            </a:r>
            <a:r>
              <a:rPr lang="es-PE" sz="1200" dirty="0"/>
              <a:t> (Front Office a Contabilidad) en entorno CIB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</a:t>
            </a:r>
            <a:r>
              <a:rPr lang="es-PE" sz="1200" dirty="0" err="1"/>
              <a:t>Volatility</a:t>
            </a:r>
            <a:r>
              <a:rPr lang="es-PE" sz="1200" dirty="0"/>
              <a:t> </a:t>
            </a:r>
            <a:r>
              <a:rPr lang="es-PE" sz="1200" dirty="0" err="1"/>
              <a:t>Surfaces</a:t>
            </a:r>
            <a:r>
              <a:rPr lang="es-PE" sz="1200" dirty="0"/>
              <a:t> para valoración de opciones en nuevos pares de monedas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</a:t>
            </a:r>
            <a:r>
              <a:rPr lang="es-PE" sz="1200" dirty="0" err="1"/>
              <a:t>Datalake</a:t>
            </a:r>
            <a:r>
              <a:rPr lang="es-PE" sz="1200" dirty="0"/>
              <a:t> integrado con </a:t>
            </a:r>
            <a:r>
              <a:rPr lang="es-PE" sz="1200" dirty="0" err="1"/>
              <a:t>Calypso</a:t>
            </a:r>
            <a:endParaRPr lang="es-PE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</a:t>
            </a:r>
            <a:r>
              <a:rPr lang="es-PE" sz="1200" dirty="0" err="1"/>
              <a:t>Middle</a:t>
            </a:r>
            <a:r>
              <a:rPr lang="es-PE" sz="1200" dirty="0"/>
              <a:t> Office en </a:t>
            </a:r>
            <a:r>
              <a:rPr lang="es-PE" sz="1200" dirty="0" err="1"/>
              <a:t>Calypso</a:t>
            </a:r>
            <a:r>
              <a:rPr lang="es-PE" sz="1200" dirty="0"/>
              <a:t>, automatizando productos de mercado de capitales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</a:t>
            </a:r>
            <a:r>
              <a:rPr lang="es-PE" sz="1200" dirty="0" err="1"/>
              <a:t>Market</a:t>
            </a:r>
            <a:r>
              <a:rPr lang="es-PE" sz="1200" dirty="0"/>
              <a:t> en producción, mejorando eficiencia operativa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</a:t>
            </a:r>
            <a:r>
              <a:rPr lang="es-PE" sz="1200" dirty="0" err="1"/>
              <a:t>stakeholders</a:t>
            </a:r>
            <a:r>
              <a:rPr lang="es-PE" sz="1200" dirty="0"/>
              <a:t> clave (</a:t>
            </a:r>
            <a:r>
              <a:rPr lang="es-PE" sz="1200" dirty="0" err="1"/>
              <a:t>traders</a:t>
            </a:r>
            <a:r>
              <a:rPr lang="es-PE" sz="1200" dirty="0"/>
              <a:t>, </a:t>
            </a:r>
            <a:r>
              <a:rPr lang="es-PE" sz="1200" dirty="0" err="1"/>
              <a:t>PMs</a:t>
            </a:r>
            <a:r>
              <a:rPr lang="es-PE" sz="1200" dirty="0"/>
              <a:t>, </a:t>
            </a:r>
            <a:r>
              <a:rPr lang="es-PE" sz="1200" dirty="0" err="1"/>
              <a:t>Product</a:t>
            </a:r>
            <a:r>
              <a:rPr lang="es-PE" sz="1200" dirty="0"/>
              <a:t> </a:t>
            </a:r>
            <a:r>
              <a:rPr lang="es-PE" sz="1200" dirty="0" err="1"/>
              <a:t>Owners</a:t>
            </a:r>
            <a:r>
              <a:rPr lang="es-PE" sz="1200" dirty="0"/>
              <a:t>, analistas)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</a:t>
            </a:r>
            <a:r>
              <a:rPr lang="es-PE" sz="1200" dirty="0" err="1"/>
              <a:t>CxP</a:t>
            </a:r>
            <a:r>
              <a:rPr lang="es-PE" sz="1200" dirty="0"/>
              <a:t>, </a:t>
            </a:r>
            <a:r>
              <a:rPr lang="es-PE" sz="1200" dirty="0" err="1"/>
              <a:t>CxC</a:t>
            </a:r>
            <a:r>
              <a:rPr lang="es-PE" sz="1200" dirty="0"/>
              <a:t>)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</a:t>
            </a:r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251921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cs typeface="Soho Gothic Pro Light"/>
              </a:rPr>
              <a:t>Bachiller en Ingeniería Industrial y de Sistemas – Universidad de Piura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cs typeface="Soho Gothic Pro Light"/>
              </a:rPr>
              <a:t>Especialización en Mercado de Capitales y Gestión de Portafolios – Pacífico Business </a:t>
            </a:r>
            <a:r>
              <a:rPr lang="es-PE" sz="1200" dirty="0" err="1">
                <a:cs typeface="Soho Gothic Pro Light"/>
              </a:rPr>
              <a:t>School</a:t>
            </a:r>
            <a:endParaRPr lang="es-PE" sz="1200" dirty="0">
              <a:cs typeface="Soho Gothic Pro Light"/>
            </a:endParaRP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cs typeface="Soho Gothic Pro Light"/>
              </a:rPr>
              <a:t>Especialización en Finanzas Corporativas – CENTRUM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>
                <a:cs typeface="Soho Gothic Pro Light"/>
              </a:rPr>
              <a:t>Diplomado en Data </a:t>
            </a:r>
            <a:r>
              <a:rPr lang="es-PE" sz="1200" dirty="0" err="1">
                <a:cs typeface="Soho Gothic Pro Light"/>
              </a:rPr>
              <a:t>Analytics</a:t>
            </a:r>
            <a:r>
              <a:rPr lang="es-PE" sz="1200" dirty="0">
                <a:cs typeface="Soho Gothic Pro Light"/>
              </a:rPr>
              <a:t> (DAX, análisis de datos)</a:t>
            </a:r>
          </a:p>
          <a:p>
            <a:pPr marL="12700">
              <a:spcBef>
                <a:spcPts val="610"/>
              </a:spcBef>
              <a:defRPr/>
            </a:pPr>
            <a:endParaRPr lang="es-ES" sz="1200" dirty="0">
              <a:cs typeface="Soho Gothic Pro Light"/>
            </a:endParaRPr>
          </a:p>
        </p:txBody>
      </p:sp>
      <p:sp>
        <p:nvSpPr>
          <p:cNvPr id="22" name="object 10"/>
          <p:cNvSpPr txBox="1"/>
          <p:nvPr/>
        </p:nvSpPr>
        <p:spPr>
          <a:xfrm>
            <a:off x="333825" y="4520093"/>
            <a:ext cx="3422368" cy="164339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 err="1"/>
              <a:t>Calypso</a:t>
            </a:r>
            <a:r>
              <a:rPr lang="es-PE" sz="1200" dirty="0"/>
              <a:t> (Front y </a:t>
            </a:r>
            <a:r>
              <a:rPr lang="es-PE" sz="1200" dirty="0" err="1"/>
              <a:t>Middle</a:t>
            </a:r>
            <a:r>
              <a:rPr lang="es-PE" sz="1200" dirty="0"/>
              <a:t> Office) 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/>
              <a:t>Productos financieros: FX, swaps, repos, depósitos, </a:t>
            </a:r>
            <a:r>
              <a:rPr lang="es-PE" sz="1200" dirty="0" err="1"/>
              <a:t>bonds</a:t>
            </a:r>
            <a:r>
              <a:rPr lang="es-PE" sz="1200" dirty="0"/>
              <a:t> 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/>
              <a:t>Modelamiento financiero (P&amp;L, flujo de caja, presupuestos) 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/>
              <a:t>Metodologías ágiles 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0B357CF-A983-E219-B526-FCC6D7384172}"/>
              </a:ext>
            </a:extLst>
          </p:cNvPr>
          <p:cNvCxnSpPr/>
          <p:nvPr/>
        </p:nvCxnSpPr>
        <p:spPr>
          <a:xfrm>
            <a:off x="335360" y="4530236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346</Words>
  <Application>Microsoft Office PowerPoint</Application>
  <PresentationFormat>Panorámica</PresentationFormat>
  <Paragraphs>32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Abel Ponte García Consultant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144</cp:revision>
  <dcterms:created xsi:type="dcterms:W3CDTF">2023-06-22T21:06:06Z</dcterms:created>
  <dcterms:modified xsi:type="dcterms:W3CDTF">2026-04-01T18:00:48Z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