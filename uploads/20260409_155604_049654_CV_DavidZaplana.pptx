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3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4"/>
  </p:notesMasterIdLst>
  <p:sldIdLst>
    <p:sldId id="790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06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4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738E0-5812-4693-BD47-370034DA9DDA}" type="datetimeFigureOut">
              <a:rPr lang="es-PE" smtClean="0"/>
              <a:t>13/03/2026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794EF-C7E9-4604-B286-195DD59319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10463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C2A24-4EEF-C077-16DA-2F8B5F28A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887BA86-3BEA-A516-3BD4-8B788AA53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1ADC044-122A-3DE5-873D-03D0EB957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F4FE9A-B30E-46E8-D584-8293F460B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5632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4" Type="http://schemas.openxmlformats.org/officeDocument/2006/relationships/image" Target="../media/image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4" Type="http://schemas.openxmlformats.org/officeDocument/2006/relationships/image" Target="../media/image2.emf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6975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64889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42769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8357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12825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568611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85643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0752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35056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9930036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04564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196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título de esta página, cuentas con dos líneas para títulos extensos</a:t>
            </a:r>
            <a:endParaRPr lang="en-US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564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2892558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título de esta página, cuentas con dos líneas para títulos extensos</a:t>
            </a:r>
            <a:endParaRPr lang="en-US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138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5854160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11521678" cy="87312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59" y="1496513"/>
            <a:ext cx="11521679" cy="5197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la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75605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3" y="2250332"/>
            <a:ext cx="5501634" cy="3586588"/>
          </a:xfrm>
        </p:spPr>
        <p:txBody>
          <a:bodyPr/>
          <a:lstStyle>
            <a:lvl1pPr marL="0" indent="0">
              <a:buNone/>
              <a:defRPr sz="1300"/>
            </a:lvl1pPr>
            <a:lvl2pPr marL="216000" indent="0">
              <a:buNone/>
              <a:defRPr sz="1300"/>
            </a:lvl2pPr>
            <a:lvl3pPr marL="432000" indent="0">
              <a:buNone/>
              <a:defRPr sz="1300"/>
            </a:lvl3pPr>
            <a:lvl4pPr marL="648000" indent="0">
              <a:buNone/>
              <a:defRPr sz="1300"/>
            </a:lvl4pPr>
            <a:lvl5pPr marL="864000" indent="0">
              <a:buNone/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22125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79218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3" y="2250332"/>
            <a:ext cx="5501634" cy="3586588"/>
          </a:xfrm>
        </p:spPr>
        <p:txBody>
          <a:bodyPr/>
          <a:lstStyle>
            <a:lvl1pPr marL="0" indent="0">
              <a:buNone/>
              <a:defRPr sz="1300"/>
            </a:lvl1pPr>
            <a:lvl2pPr marL="216000" indent="0">
              <a:buNone/>
              <a:defRPr sz="1300"/>
            </a:lvl2pPr>
            <a:lvl3pPr marL="432000" indent="0">
              <a:buNone/>
              <a:defRPr sz="1300"/>
            </a:lvl3pPr>
            <a:lvl4pPr marL="648000" indent="0">
              <a:buNone/>
              <a:defRPr sz="1300"/>
            </a:lvl4pPr>
            <a:lvl5pPr marL="864000" indent="0">
              <a:buNone/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36697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38115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3" y="2250332"/>
            <a:ext cx="5501634" cy="3586588"/>
          </a:xfrm>
        </p:spPr>
        <p:txBody>
          <a:bodyPr/>
          <a:lstStyle>
            <a:lvl1pPr marL="0" indent="0">
              <a:buNone/>
              <a:defRPr sz="1300"/>
            </a:lvl1pPr>
            <a:lvl2pPr marL="216000" indent="0">
              <a:buNone/>
              <a:defRPr sz="1300"/>
            </a:lvl2pPr>
            <a:lvl3pPr marL="432000" indent="0">
              <a:buNone/>
              <a:defRPr sz="1300"/>
            </a:lvl3pPr>
            <a:lvl4pPr marL="648000" indent="0">
              <a:buNone/>
              <a:defRPr sz="1300"/>
            </a:lvl4pPr>
            <a:lvl5pPr marL="864000" indent="0">
              <a:buNone/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73370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85643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45789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35056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49813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528160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298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MINSAIT • Nombre del documento • dd/mm/aaaa</a:t>
            </a:r>
            <a:endParaRPr lang="es-E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01657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ags" Target="../tags/tag8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40753212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/>
              <a:t>MINSAIT • Nombre del documento • dd/mm/aaaa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6688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>
          <p15:clr>
            <a:srgbClr val="F26B43"/>
          </p15:clr>
        </p15:guide>
        <p15:guide id="7" orient="horz" pos="201">
          <p15:clr>
            <a:srgbClr val="F26B43"/>
          </p15:clr>
        </p15:guide>
        <p15:guide id="8" orient="horz" pos="411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40753212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4" imgW="306" imgH="306" progId="TCLayout.ActiveDocument.1">
                  <p:embed/>
                </p:oleObj>
              </mc:Choice>
              <mc:Fallback>
                <p:oleObj name="Diapositiva de think-cell" r:id="rId14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/>
              <a:t>Minsait • Nombre del documento • dd/mm/aaaa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194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>
          <p15:clr>
            <a:srgbClr val="F26B43"/>
          </p15:clr>
        </p15:guide>
        <p15:guide id="7" orient="horz" pos="201">
          <p15:clr>
            <a:srgbClr val="F26B43"/>
          </p15:clr>
        </p15:guide>
        <p15:guide id="8" orient="horz" pos="411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CF690-B203-4166-456A-7735F0BA2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B6A0F060-7C9F-066F-9A88-6219534FC8A3}"/>
              </a:ext>
            </a:extLst>
          </p:cNvPr>
          <p:cNvGrpSpPr/>
          <p:nvPr/>
        </p:nvGrpSpPr>
        <p:grpSpPr>
          <a:xfrm rot="5400000">
            <a:off x="-224403" y="2364384"/>
            <a:ext cx="4450679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C6483F1B-E4D7-2790-8A47-B5148E208536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+mn-cs"/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F5284E21-4DEB-7A99-9126-6ADAE335AE4D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rFuture Sans"/>
                <a:ea typeface="+mn-ea"/>
                <a:cs typeface="+mn-cs"/>
              </a:endParaRPr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6F80B496-6065-4BAC-3534-F5937C426F1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rFuture Sans"/>
                <a:ea typeface="+mn-ea"/>
                <a:cs typeface="+mn-cs"/>
              </a:endParaRPr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1A1372E7-A016-3550-9559-811FE1FF69DE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rFuture Sans"/>
                <a:ea typeface="+mn-ea"/>
                <a:cs typeface="+mn-cs"/>
              </a:endParaRPr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526D2125-5352-58C2-6557-3C16DDFCA7C1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rFuture Sans"/>
                <a:ea typeface="+mn-ea"/>
                <a:cs typeface="+mn-cs"/>
              </a:endParaRP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7E4E321C-47E2-5509-3D74-356A923F0FE7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12FA50B9-6AF7-AB31-02EE-C47B045C5DD8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+mn-cs"/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AF65C5DE-41F0-CF98-DB03-D9795F92C157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rFuture Sans"/>
                <a:ea typeface="+mn-ea"/>
                <a:cs typeface="+mn-cs"/>
              </a:endParaRPr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6D087524-3BAB-022C-5615-E5AD6FC50595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rFuture Sans"/>
                <a:ea typeface="+mn-ea"/>
                <a:cs typeface="+mn-cs"/>
              </a:endParaRPr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47ED02BB-290B-EBB3-715F-CF0CF4FF468A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rFuture Sans"/>
                <a:ea typeface="+mn-ea"/>
                <a:cs typeface="+mn-cs"/>
              </a:endParaRPr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A6B96A3C-3AEE-6294-B3CF-D0EB89383C30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rFuture Sans"/>
                <a:ea typeface="+mn-ea"/>
                <a:cs typeface="+mn-cs"/>
              </a:endParaRPr>
            </a:p>
          </p:txBody>
        </p:sp>
      </p:grpSp>
      <p:graphicFrame>
        <p:nvGraphicFramePr>
          <p:cNvPr id="14" name="Objeto 13" hidden="1">
            <a:extLst>
              <a:ext uri="{FF2B5EF4-FFF2-40B4-BE49-F238E27FC236}">
                <a16:creationId xmlns:a16="http://schemas.microsoft.com/office/drawing/2014/main" id="{E0B68382-3C21-E67F-0405-9E57A3CD95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>
            <a:extLst>
              <a:ext uri="{FF2B5EF4-FFF2-40B4-BE49-F238E27FC236}">
                <a16:creationId xmlns:a16="http://schemas.microsoft.com/office/drawing/2014/main" id="{53E791FB-ACCC-059C-5360-B053CCE729A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379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n-ea"/>
              <a:cs typeface="+mn-cs"/>
              <a:sym typeface="Playfair Display" panose="00000500000000000000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58ACE10-14C6-D090-D04C-9F4D4D6FB3CC}"/>
              </a:ext>
            </a:extLst>
          </p:cNvPr>
          <p:cNvSpPr/>
          <p:nvPr/>
        </p:nvSpPr>
        <p:spPr>
          <a:xfrm>
            <a:off x="4188188" y="234093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lvl="0" defTabSz="913790"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Experiencia profesional </a:t>
            </a:r>
            <a:r>
              <a:rPr lang="es-ES" sz="1600" b="1" dirty="0">
                <a:solidFill>
                  <a:srgbClr val="4F062A"/>
                </a:solidFill>
              </a:rPr>
              <a:t>+3 años de experiencia</a:t>
            </a:r>
            <a:endParaRPr kumimoji="0" lang="es-ES" sz="1600" b="0" i="0" u="none" strike="noStrike" kern="1200" cap="none" spc="0" normalizeH="0" baseline="0" noProof="0" dirty="0">
              <a:ln>
                <a:noFill/>
              </a:ln>
              <a:solidFill>
                <a:srgbClr val="4F062A"/>
              </a:solidFill>
              <a:effectLst/>
              <a:uLnTx/>
              <a:uFillTx/>
              <a:latin typeface="ForFuture Sans"/>
              <a:ea typeface="+mn-ea"/>
              <a:cs typeface="+mn-cs"/>
            </a:endParaRPr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65456C7D-80A7-CA87-F36E-B95C31C130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23C83E1-D131-F004-8DF4-F930C8619124}"/>
              </a:ext>
            </a:extLst>
          </p:cNvPr>
          <p:cNvSpPr/>
          <p:nvPr/>
        </p:nvSpPr>
        <p:spPr>
          <a:xfrm>
            <a:off x="-2328936" y="2423587"/>
            <a:ext cx="7668453" cy="5647700"/>
          </a:xfrm>
          <a:prstGeom prst="rect">
            <a:avLst/>
          </a:prstGeom>
        </p:spPr>
        <p:txBody>
          <a:bodyPr wrap="square" lIns="0" rIns="0">
            <a:noAutofit/>
          </a:bodyPr>
          <a:lstStyle/>
          <a:p>
            <a:pPr marL="176213" marR="0" lvl="0" indent="-176213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4F062A"/>
              </a:solidFill>
              <a:effectLst/>
              <a:uLnTx/>
              <a:uFillTx/>
              <a:latin typeface="ForFuture Sans"/>
              <a:ea typeface="+mn-ea"/>
              <a:cs typeface="+mn-cs"/>
            </a:endParaRPr>
          </a:p>
        </p:txBody>
      </p:sp>
      <p:sp>
        <p:nvSpPr>
          <p:cNvPr id="20" name="object 9">
            <a:extLst>
              <a:ext uri="{FF2B5EF4-FFF2-40B4-BE49-F238E27FC236}">
                <a16:creationId xmlns:a16="http://schemas.microsoft.com/office/drawing/2014/main" id="{476D9807-755E-BE64-E312-7B93FE6C6C69}"/>
              </a:ext>
            </a:extLst>
          </p:cNvPr>
          <p:cNvSpPr txBox="1"/>
          <p:nvPr/>
        </p:nvSpPr>
        <p:spPr>
          <a:xfrm>
            <a:off x="323799" y="1988840"/>
            <a:ext cx="3290535" cy="20281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Soho Gothic Pro Light"/>
              </a:rPr>
              <a:t>Formación</a:t>
            </a:r>
            <a:r>
              <a:rPr kumimoji="0" lang="es-ES" sz="1600" b="0" i="0" u="none" strike="noStrike" kern="1200" cap="none" spc="-35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Soho Gothic Pro Light"/>
              </a:rPr>
              <a:t> 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Soho Gothic Pro Light"/>
              </a:rPr>
              <a:t>académica</a:t>
            </a:r>
          </a:p>
          <a:p>
            <a:pPr marL="12700" lvl="0" defTabSz="457200">
              <a:spcBef>
                <a:spcPts val="610"/>
              </a:spcBef>
              <a:defRPr/>
            </a:pPr>
            <a:r>
              <a:rPr lang="es-ES" sz="1200" dirty="0">
                <a:solidFill>
                  <a:srgbClr val="4F062A"/>
                </a:solidFill>
                <a:latin typeface="ForFuture Sans"/>
                <a:cs typeface="Soho Gothic Pro Light"/>
              </a:rPr>
              <a:t>Ingeniería de 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Soho Gothic Pro Light"/>
              </a:rPr>
              <a:t>Sistemas de información</a:t>
            </a:r>
            <a:r>
              <a:rPr lang="es-ES" sz="1200" dirty="0">
                <a:solidFill>
                  <a:srgbClr val="4F062A"/>
                </a:solidFill>
                <a:latin typeface="ForFuture Sans"/>
                <a:cs typeface="Soho Gothic Pro Light"/>
              </a:rPr>
              <a:t> – UPC</a:t>
            </a:r>
          </a:p>
          <a:p>
            <a:pPr marL="12700" lvl="0" defTabSz="457200">
              <a:spcBef>
                <a:spcPts val="610"/>
              </a:spcBef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Arial"/>
              </a:rPr>
              <a:t>Programa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Arial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Arial"/>
              </a:rPr>
              <a:t>Especializado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Arial"/>
              </a:rPr>
              <a:t> de Lead Data Officer y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Arial"/>
              </a:rPr>
              <a:t>Gobierno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Arial"/>
              </a:rPr>
              <a:t> de Datos - </a:t>
            </a: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Arial"/>
              </a:rPr>
              <a:t>DMC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F062A"/>
              </a:solidFill>
              <a:effectLst/>
              <a:uLnTx/>
              <a:uFillTx/>
              <a:latin typeface="ForFuture Sans"/>
              <a:ea typeface="+mn-ea"/>
              <a:cs typeface="Arial"/>
            </a:endParaRPr>
          </a:p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Arial" pitchFamily="34" charset="0"/>
              </a:rPr>
              <a:t>Diplomado Machine </a:t>
            </a: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Arial" pitchFamily="34" charset="0"/>
              </a:rPr>
              <a:t>Learning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Arial" pitchFamily="34" charset="0"/>
              </a:rPr>
              <a:t> </a:t>
            </a: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Arial" pitchFamily="34" charset="0"/>
              </a:rPr>
              <a:t>for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Arial" pitchFamily="34" charset="0"/>
              </a:rPr>
              <a:t> Business – UPC</a:t>
            </a:r>
          </a:p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Arial" pitchFamily="34" charset="0"/>
              </a:rPr>
              <a:t>Scrum Master Certified de </a:t>
            </a: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ForFuture Sans"/>
                <a:ea typeface="+mn-ea"/>
                <a:cs typeface="Arial" pitchFamily="34" charset="0"/>
              </a:rPr>
              <a:t>Scrum Study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8643CBA-A26F-AFED-A82C-C4BE2DC8D951}"/>
              </a:ext>
            </a:extLst>
          </p:cNvPr>
          <p:cNvCxnSpPr/>
          <p:nvPr/>
        </p:nvCxnSpPr>
        <p:spPr>
          <a:xfrm>
            <a:off x="346524" y="4113355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A43CE3AE-DCB1-2025-0AEF-7DB4F94A296E}"/>
              </a:ext>
            </a:extLst>
          </p:cNvPr>
          <p:cNvSpPr/>
          <p:nvPr/>
        </p:nvSpPr>
        <p:spPr>
          <a:xfrm>
            <a:off x="4188188" y="512293"/>
            <a:ext cx="7524436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171450" indent="-171450" defTabSz="457200">
              <a:lnSpc>
                <a:spcPct val="15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MX" sz="1050" b="1" dirty="0">
                <a:solidFill>
                  <a:srgbClr val="4F062A"/>
                </a:solidFill>
              </a:rPr>
              <a:t>Diseñar</a:t>
            </a:r>
            <a:r>
              <a:rPr lang="es-MX" sz="1050" dirty="0">
                <a:solidFill>
                  <a:srgbClr val="4F062A"/>
                </a:solidFill>
              </a:rPr>
              <a:t> un modelo TO-BE para optimizar el </a:t>
            </a:r>
            <a:r>
              <a:rPr lang="es-MX" sz="1050" b="1" dirty="0">
                <a:solidFill>
                  <a:srgbClr val="4F062A"/>
                </a:solidFill>
              </a:rPr>
              <a:t>flujo</a:t>
            </a:r>
            <a:r>
              <a:rPr lang="es-MX" sz="1050" dirty="0">
                <a:solidFill>
                  <a:srgbClr val="4F062A"/>
                </a:solidFill>
              </a:rPr>
              <a:t> de </a:t>
            </a:r>
            <a:r>
              <a:rPr lang="es-MX" sz="1050" b="1" dirty="0">
                <a:solidFill>
                  <a:srgbClr val="4F062A"/>
                </a:solidFill>
              </a:rPr>
              <a:t>datos</a:t>
            </a:r>
            <a:r>
              <a:rPr lang="es-MX" sz="1050" dirty="0">
                <a:solidFill>
                  <a:srgbClr val="4F062A"/>
                </a:solidFill>
              </a:rPr>
              <a:t> del equipo de Incentivación, incorporando capacidades </a:t>
            </a:r>
            <a:r>
              <a:rPr lang="es-MX" sz="1050" b="1" dirty="0">
                <a:solidFill>
                  <a:srgbClr val="4F062A"/>
                </a:solidFill>
              </a:rPr>
              <a:t>analíticas</a:t>
            </a:r>
            <a:r>
              <a:rPr lang="es-MX" sz="1050" dirty="0">
                <a:solidFill>
                  <a:srgbClr val="4F062A"/>
                </a:solidFill>
              </a:rPr>
              <a:t> de la </a:t>
            </a:r>
            <a:r>
              <a:rPr lang="es-MX" sz="1050" b="1" dirty="0">
                <a:solidFill>
                  <a:srgbClr val="4F062A"/>
                </a:solidFill>
              </a:rPr>
              <a:t>nube</a:t>
            </a:r>
            <a:r>
              <a:rPr lang="es-MX" sz="1050" dirty="0">
                <a:solidFill>
                  <a:srgbClr val="4F062A"/>
                </a:solidFill>
              </a:rPr>
              <a:t> para mejorar el proceso </a:t>
            </a:r>
            <a:r>
              <a:rPr lang="es-MX" sz="1050" dirty="0" err="1">
                <a:solidFill>
                  <a:srgbClr val="4F062A"/>
                </a:solidFill>
              </a:rPr>
              <a:t>end-to-end</a:t>
            </a:r>
            <a:r>
              <a:rPr lang="es-MX" sz="1050" dirty="0">
                <a:solidFill>
                  <a:srgbClr val="4F062A"/>
                </a:solidFill>
              </a:rPr>
              <a:t> y la entrega de valor a la banca.</a:t>
            </a:r>
          </a:p>
          <a:p>
            <a:pPr marL="171450" indent="-171450" defTabSz="457200">
              <a:lnSpc>
                <a:spcPct val="15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MX" sz="1050" dirty="0">
                <a:solidFill>
                  <a:srgbClr val="4F062A"/>
                </a:solidFill>
              </a:rPr>
              <a:t>Rediseñar el </a:t>
            </a:r>
            <a:r>
              <a:rPr lang="es-MX" sz="1050" b="1" dirty="0">
                <a:solidFill>
                  <a:srgbClr val="4F062A"/>
                </a:solidFill>
              </a:rPr>
              <a:t>modelo</a:t>
            </a:r>
            <a:r>
              <a:rPr lang="es-MX" sz="1050" dirty="0">
                <a:solidFill>
                  <a:srgbClr val="4F062A"/>
                </a:solidFill>
              </a:rPr>
              <a:t> </a:t>
            </a:r>
            <a:r>
              <a:rPr lang="es-MX" sz="1050" b="1" dirty="0">
                <a:solidFill>
                  <a:srgbClr val="4F062A"/>
                </a:solidFill>
              </a:rPr>
              <a:t>operativo</a:t>
            </a:r>
            <a:r>
              <a:rPr lang="es-MX" sz="1050" dirty="0">
                <a:solidFill>
                  <a:srgbClr val="4F062A"/>
                </a:solidFill>
              </a:rPr>
              <a:t> del equipo de </a:t>
            </a:r>
            <a:r>
              <a:rPr lang="es-MX" sz="1050" b="1" dirty="0">
                <a:solidFill>
                  <a:srgbClr val="4F062A"/>
                </a:solidFill>
              </a:rPr>
              <a:t>data</a:t>
            </a:r>
            <a:r>
              <a:rPr lang="es-MX" sz="1050" dirty="0">
                <a:solidFill>
                  <a:srgbClr val="4F062A"/>
                </a:solidFill>
              </a:rPr>
              <a:t> para agilizar la atención de solicitudes de </a:t>
            </a:r>
            <a:r>
              <a:rPr lang="es-MX" sz="1050" b="1" dirty="0">
                <a:solidFill>
                  <a:srgbClr val="4F062A"/>
                </a:solidFill>
              </a:rPr>
              <a:t>ingesta</a:t>
            </a:r>
            <a:r>
              <a:rPr lang="es-MX" sz="1050" dirty="0">
                <a:solidFill>
                  <a:srgbClr val="4F062A"/>
                </a:solidFill>
              </a:rPr>
              <a:t> y </a:t>
            </a:r>
            <a:r>
              <a:rPr lang="es-MX" sz="1050" b="1" dirty="0">
                <a:solidFill>
                  <a:srgbClr val="4F062A"/>
                </a:solidFill>
              </a:rPr>
              <a:t>modificación</a:t>
            </a:r>
            <a:r>
              <a:rPr lang="es-MX" sz="1050" dirty="0">
                <a:solidFill>
                  <a:srgbClr val="4F062A"/>
                </a:solidFill>
              </a:rPr>
              <a:t> de información con ceremonias de trabajo entre data y negocio (alineamiento, priorización y seguimiento) para reducir fricciones y mejorar coordinación.</a:t>
            </a:r>
          </a:p>
          <a:p>
            <a:pPr marL="171450" indent="-171450" defTabSz="457200">
              <a:lnSpc>
                <a:spcPct val="15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MX" sz="1050" b="1" dirty="0">
                <a:solidFill>
                  <a:srgbClr val="4F062A"/>
                </a:solidFill>
              </a:rPr>
              <a:t>Implementar</a:t>
            </a:r>
            <a:r>
              <a:rPr lang="es-MX" sz="1050" dirty="0">
                <a:solidFill>
                  <a:srgbClr val="4F062A"/>
                </a:solidFill>
              </a:rPr>
              <a:t> </a:t>
            </a:r>
            <a:r>
              <a:rPr lang="es-MX" sz="1050" b="1" dirty="0">
                <a:solidFill>
                  <a:srgbClr val="4F062A"/>
                </a:solidFill>
              </a:rPr>
              <a:t>herramientas</a:t>
            </a:r>
            <a:r>
              <a:rPr lang="es-MX" sz="1050" dirty="0">
                <a:solidFill>
                  <a:srgbClr val="4F062A"/>
                </a:solidFill>
              </a:rPr>
              <a:t> de </a:t>
            </a:r>
            <a:r>
              <a:rPr lang="es-MX" sz="1050" b="1" dirty="0">
                <a:solidFill>
                  <a:srgbClr val="4F062A"/>
                </a:solidFill>
              </a:rPr>
              <a:t>conciliación</a:t>
            </a:r>
            <a:r>
              <a:rPr lang="es-MX" sz="1050" dirty="0">
                <a:solidFill>
                  <a:srgbClr val="4F062A"/>
                </a:solidFill>
              </a:rPr>
              <a:t> contable en </a:t>
            </a:r>
            <a:r>
              <a:rPr lang="es-MX" sz="1050" b="1" dirty="0">
                <a:solidFill>
                  <a:srgbClr val="4F062A"/>
                </a:solidFill>
              </a:rPr>
              <a:t>SQL</a:t>
            </a:r>
            <a:r>
              <a:rPr lang="es-MX" sz="1050" dirty="0">
                <a:solidFill>
                  <a:srgbClr val="4F062A"/>
                </a:solidFill>
              </a:rPr>
              <a:t> para identificar descuadres, clasificarlos y facilitar su resolución operativa.</a:t>
            </a:r>
          </a:p>
          <a:p>
            <a:pPr marL="171450" indent="-171450" defTabSz="457200">
              <a:lnSpc>
                <a:spcPct val="15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MX" sz="1050" b="1" dirty="0">
                <a:solidFill>
                  <a:srgbClr val="4F062A"/>
                </a:solidFill>
              </a:rPr>
              <a:t>Diseñar</a:t>
            </a:r>
            <a:r>
              <a:rPr lang="es-MX" sz="1050" dirty="0">
                <a:solidFill>
                  <a:srgbClr val="4F062A"/>
                </a:solidFill>
              </a:rPr>
              <a:t> y </a:t>
            </a:r>
            <a:r>
              <a:rPr lang="es-MX" sz="1050" b="1" dirty="0">
                <a:solidFill>
                  <a:srgbClr val="4F062A"/>
                </a:solidFill>
              </a:rPr>
              <a:t>construir</a:t>
            </a:r>
            <a:r>
              <a:rPr lang="es-MX" sz="1050" dirty="0">
                <a:solidFill>
                  <a:srgbClr val="4F062A"/>
                </a:solidFill>
              </a:rPr>
              <a:t> </a:t>
            </a:r>
            <a:r>
              <a:rPr lang="es-MX" sz="1050" b="1" dirty="0" err="1">
                <a:solidFill>
                  <a:srgbClr val="4F062A"/>
                </a:solidFill>
              </a:rPr>
              <a:t>dashboards</a:t>
            </a:r>
            <a:r>
              <a:rPr lang="es-MX" sz="1050" dirty="0">
                <a:solidFill>
                  <a:srgbClr val="4F062A"/>
                </a:solidFill>
              </a:rPr>
              <a:t> de seguimiento que permitan al equipo responsable accionar sobre casos con descuadre y priorizar su atención desde el diseño del </a:t>
            </a:r>
            <a:r>
              <a:rPr lang="es-MX" sz="1050" b="1" dirty="0" err="1">
                <a:solidFill>
                  <a:srgbClr val="4F062A"/>
                </a:solidFill>
              </a:rPr>
              <a:t>storytelling</a:t>
            </a:r>
            <a:r>
              <a:rPr lang="es-MX" sz="1050" dirty="0">
                <a:solidFill>
                  <a:srgbClr val="4F062A"/>
                </a:solidFill>
              </a:rPr>
              <a:t> hasta la </a:t>
            </a:r>
            <a:r>
              <a:rPr lang="es-MX" sz="1050" b="1" dirty="0">
                <a:solidFill>
                  <a:srgbClr val="4F062A"/>
                </a:solidFill>
              </a:rPr>
              <a:t>construcción</a:t>
            </a:r>
            <a:r>
              <a:rPr lang="es-MX" sz="1050" dirty="0">
                <a:solidFill>
                  <a:srgbClr val="4F062A"/>
                </a:solidFill>
              </a:rPr>
              <a:t> de los datos fuente.</a:t>
            </a:r>
          </a:p>
          <a:p>
            <a:pPr marL="171450" indent="-171450" defTabSz="457200">
              <a:lnSpc>
                <a:spcPct val="15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MX" sz="1050" b="1" dirty="0">
                <a:solidFill>
                  <a:srgbClr val="4F062A"/>
                </a:solidFill>
              </a:rPr>
              <a:t>Construir</a:t>
            </a:r>
            <a:r>
              <a:rPr lang="es-MX" sz="1050" dirty="0">
                <a:solidFill>
                  <a:srgbClr val="4F062A"/>
                </a:solidFill>
              </a:rPr>
              <a:t> </a:t>
            </a:r>
            <a:r>
              <a:rPr lang="es-MX" sz="1050" b="1" dirty="0">
                <a:solidFill>
                  <a:srgbClr val="4F062A"/>
                </a:solidFill>
              </a:rPr>
              <a:t>tablones</a:t>
            </a:r>
            <a:r>
              <a:rPr lang="es-MX" sz="1050" dirty="0">
                <a:solidFill>
                  <a:srgbClr val="4F062A"/>
                </a:solidFill>
              </a:rPr>
              <a:t>/</a:t>
            </a:r>
            <a:r>
              <a:rPr lang="es-MX" sz="1050" b="1" dirty="0" err="1">
                <a:solidFill>
                  <a:srgbClr val="4F062A"/>
                </a:solidFill>
              </a:rPr>
              <a:t>datasets</a:t>
            </a:r>
            <a:r>
              <a:rPr lang="es-MX" sz="1050" dirty="0">
                <a:solidFill>
                  <a:srgbClr val="4F062A"/>
                </a:solidFill>
              </a:rPr>
              <a:t> base en </a:t>
            </a:r>
            <a:r>
              <a:rPr lang="es-MX" sz="1050" b="1" dirty="0" err="1">
                <a:solidFill>
                  <a:srgbClr val="4F062A"/>
                </a:solidFill>
              </a:rPr>
              <a:t>PySpark</a:t>
            </a:r>
            <a:r>
              <a:rPr lang="es-MX" sz="1050" b="1" dirty="0">
                <a:solidFill>
                  <a:srgbClr val="4F062A"/>
                </a:solidFill>
              </a:rPr>
              <a:t>/</a:t>
            </a:r>
            <a:r>
              <a:rPr lang="es-MX" sz="1050" b="1" dirty="0" err="1">
                <a:solidFill>
                  <a:srgbClr val="4F062A"/>
                </a:solidFill>
              </a:rPr>
              <a:t>BigQuery</a:t>
            </a:r>
            <a:r>
              <a:rPr lang="es-MX" sz="1050" b="1" dirty="0">
                <a:solidFill>
                  <a:srgbClr val="4F062A"/>
                </a:solidFill>
              </a:rPr>
              <a:t> </a:t>
            </a:r>
            <a:r>
              <a:rPr lang="es-MX" sz="1050" dirty="0">
                <a:solidFill>
                  <a:srgbClr val="4F062A"/>
                </a:solidFill>
              </a:rPr>
              <a:t>para garantizar consistencia, trazabilidad y disponibilidad de información clave</a:t>
            </a:r>
          </a:p>
          <a:p>
            <a:pPr marL="171450" indent="-171450" defTabSz="457200">
              <a:lnSpc>
                <a:spcPct val="15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ES" sz="1050" b="1" dirty="0">
                <a:solidFill>
                  <a:srgbClr val="4F062A"/>
                </a:solidFill>
              </a:rPr>
              <a:t>Optimización del catalogo de </a:t>
            </a:r>
            <a:r>
              <a:rPr lang="es-ES" sz="1050" b="1" dirty="0" err="1">
                <a:solidFill>
                  <a:srgbClr val="4F062A"/>
                </a:solidFill>
              </a:rPr>
              <a:t>dashboards</a:t>
            </a:r>
            <a:r>
              <a:rPr lang="es-ES" sz="1050" b="1" dirty="0">
                <a:solidFill>
                  <a:srgbClr val="4F062A"/>
                </a:solidFill>
              </a:rPr>
              <a:t> </a:t>
            </a:r>
            <a:r>
              <a:rPr lang="es-ES" sz="1050" dirty="0">
                <a:solidFill>
                  <a:srgbClr val="4F062A"/>
                </a:solidFill>
              </a:rPr>
              <a:t>el equipo de CIB, mejorando los tablones fuentes, adicionando gráficos y cambiando el </a:t>
            </a:r>
            <a:r>
              <a:rPr lang="es-ES" sz="1050" dirty="0" err="1">
                <a:solidFill>
                  <a:srgbClr val="4F062A"/>
                </a:solidFill>
              </a:rPr>
              <a:t>storytelling</a:t>
            </a:r>
            <a:r>
              <a:rPr lang="es-ES" sz="1050" dirty="0">
                <a:solidFill>
                  <a:srgbClr val="4F062A"/>
                </a:solidFill>
              </a:rPr>
              <a:t> para agilizar la toma de decisiones</a:t>
            </a:r>
          </a:p>
          <a:p>
            <a:pPr marL="171450" indent="-171450" defTabSz="457200">
              <a:lnSpc>
                <a:spcPct val="15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MX" sz="1050" b="1" dirty="0">
                <a:solidFill>
                  <a:srgbClr val="4F062A"/>
                </a:solidFill>
              </a:rPr>
              <a:t>Explorar</a:t>
            </a:r>
            <a:r>
              <a:rPr lang="es-MX" sz="1050" dirty="0">
                <a:solidFill>
                  <a:srgbClr val="4F062A"/>
                </a:solidFill>
              </a:rPr>
              <a:t> </a:t>
            </a:r>
            <a:r>
              <a:rPr lang="es-MX" sz="1050" b="1" dirty="0">
                <a:solidFill>
                  <a:srgbClr val="4F062A"/>
                </a:solidFill>
              </a:rPr>
              <a:t>tablas</a:t>
            </a:r>
            <a:r>
              <a:rPr lang="es-MX" sz="1050" dirty="0">
                <a:solidFill>
                  <a:srgbClr val="4F062A"/>
                </a:solidFill>
              </a:rPr>
              <a:t> en el entorno </a:t>
            </a:r>
            <a:r>
              <a:rPr lang="es-MX" sz="1050" b="1" dirty="0" err="1">
                <a:solidFill>
                  <a:srgbClr val="4F062A"/>
                </a:solidFill>
              </a:rPr>
              <a:t>BigData</a:t>
            </a:r>
            <a:r>
              <a:rPr lang="es-MX" sz="1050" dirty="0">
                <a:solidFill>
                  <a:srgbClr val="4F062A"/>
                </a:solidFill>
              </a:rPr>
              <a:t> para comprender estructuras, relaciones y calidad de datos disponibles para analítica.</a:t>
            </a:r>
          </a:p>
          <a:p>
            <a:pPr marL="171450" indent="-171450" defTabSz="457200">
              <a:lnSpc>
                <a:spcPct val="15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MX" sz="1050" b="1" dirty="0">
                <a:solidFill>
                  <a:srgbClr val="4F062A"/>
                </a:solidFill>
              </a:rPr>
              <a:t>Definir</a:t>
            </a:r>
            <a:r>
              <a:rPr lang="es-MX" sz="1050" dirty="0">
                <a:solidFill>
                  <a:srgbClr val="4F062A"/>
                </a:solidFill>
              </a:rPr>
              <a:t> </a:t>
            </a:r>
            <a:r>
              <a:rPr lang="es-MX" sz="1050" b="1" dirty="0">
                <a:solidFill>
                  <a:srgbClr val="4F062A"/>
                </a:solidFill>
              </a:rPr>
              <a:t>lógicas</a:t>
            </a:r>
            <a:r>
              <a:rPr lang="es-MX" sz="1050" dirty="0">
                <a:solidFill>
                  <a:srgbClr val="4F062A"/>
                </a:solidFill>
              </a:rPr>
              <a:t> de cálculo para </a:t>
            </a:r>
            <a:r>
              <a:rPr lang="es-MX" sz="1050" b="1" dirty="0">
                <a:solidFill>
                  <a:srgbClr val="4F062A"/>
                </a:solidFill>
              </a:rPr>
              <a:t>nuevos</a:t>
            </a:r>
            <a:r>
              <a:rPr lang="es-MX" sz="1050" dirty="0">
                <a:solidFill>
                  <a:srgbClr val="4F062A"/>
                </a:solidFill>
              </a:rPr>
              <a:t> </a:t>
            </a:r>
            <a:r>
              <a:rPr lang="es-MX" sz="1050" dirty="0" err="1">
                <a:solidFill>
                  <a:srgbClr val="4F062A"/>
                </a:solidFill>
              </a:rPr>
              <a:t>KPIs</a:t>
            </a:r>
            <a:r>
              <a:rPr lang="es-MX" sz="1050" dirty="0">
                <a:solidFill>
                  <a:srgbClr val="4F062A"/>
                </a:solidFill>
              </a:rPr>
              <a:t> esenciales en Billeteras Digitales y Tarjetas, orientados a diseñar estrategias más efectivas.</a:t>
            </a:r>
          </a:p>
          <a:p>
            <a:pPr marL="171450" indent="-171450" defTabSz="457200">
              <a:lnSpc>
                <a:spcPct val="15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MX" sz="1050" b="1" dirty="0">
                <a:solidFill>
                  <a:srgbClr val="4F062A"/>
                </a:solidFill>
                <a:ea typeface="+mn-lt"/>
                <a:cs typeface="+mn-lt"/>
              </a:rPr>
              <a:t>Impulsar oportunidades de negocio mediante analítica avanzada </a:t>
            </a:r>
            <a:r>
              <a:rPr lang="es-MX" sz="1050" dirty="0">
                <a:solidFill>
                  <a:srgbClr val="4F062A"/>
                </a:solidFill>
                <a:ea typeface="+mn-lt"/>
                <a:cs typeface="+mn-lt"/>
              </a:rPr>
              <a:t>que consolida una visión integral del cliente en el negocio de medios de pago (TD, TC y billetera digital) y el negocio de cambio de moneda en CIB (FX), identificando </a:t>
            </a:r>
            <a:r>
              <a:rPr lang="es-MX" sz="1050" dirty="0" err="1">
                <a:solidFill>
                  <a:srgbClr val="4F062A"/>
                </a:solidFill>
                <a:ea typeface="+mn-lt"/>
                <a:cs typeface="+mn-lt"/>
              </a:rPr>
              <a:t>insights</a:t>
            </a:r>
            <a:r>
              <a:rPr lang="es-MX" sz="1050" dirty="0">
                <a:solidFill>
                  <a:srgbClr val="4F062A"/>
                </a:solidFill>
                <a:ea typeface="+mn-lt"/>
                <a:cs typeface="+mn-lt"/>
              </a:rPr>
              <a:t> accionables </a:t>
            </a:r>
          </a:p>
          <a:p>
            <a:pPr marL="171450" indent="-171450" defTabSz="457200">
              <a:lnSpc>
                <a:spcPct val="15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MX" sz="1050" b="1" dirty="0">
                <a:solidFill>
                  <a:srgbClr val="4F062A"/>
                </a:solidFill>
              </a:rPr>
              <a:t>Traducir</a:t>
            </a:r>
            <a:r>
              <a:rPr lang="es-MX" sz="1050" dirty="0">
                <a:solidFill>
                  <a:srgbClr val="4F062A"/>
                </a:solidFill>
              </a:rPr>
              <a:t> </a:t>
            </a:r>
            <a:r>
              <a:rPr lang="es-MX" sz="1050" b="1" dirty="0">
                <a:solidFill>
                  <a:srgbClr val="4F062A"/>
                </a:solidFill>
              </a:rPr>
              <a:t>necesidades</a:t>
            </a:r>
            <a:r>
              <a:rPr lang="es-MX" sz="1050" dirty="0">
                <a:solidFill>
                  <a:srgbClr val="4F062A"/>
                </a:solidFill>
              </a:rPr>
              <a:t> de </a:t>
            </a:r>
            <a:r>
              <a:rPr lang="es-MX" sz="1050" b="1" dirty="0">
                <a:solidFill>
                  <a:srgbClr val="4F062A"/>
                </a:solidFill>
              </a:rPr>
              <a:t>negocio</a:t>
            </a:r>
            <a:r>
              <a:rPr lang="es-MX" sz="1050" dirty="0">
                <a:solidFill>
                  <a:srgbClr val="4F062A"/>
                </a:solidFill>
              </a:rPr>
              <a:t> hacia el COE de Data, aterrizando requerimientos para implementar o ajustar modelos de acuerdo con la estrategia acordada.</a:t>
            </a:r>
            <a:endParaRPr lang="es-ES" sz="1050" dirty="0">
              <a:solidFill>
                <a:srgbClr val="4F062A"/>
              </a:solidFill>
              <a:latin typeface="ForFuture Sans"/>
            </a:endParaRPr>
          </a:p>
          <a:p>
            <a:pPr marL="83820" marR="0" lvl="0" indent="-187325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rgbClr val="4F062A"/>
              </a:solidFill>
              <a:effectLst/>
              <a:uLnTx/>
              <a:uFillTx/>
              <a:latin typeface="ForFuture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s-ES" sz="1050" b="0" i="0" u="none" strike="noStrike" kern="1200" cap="none" spc="0" normalizeH="0" baseline="0" noProof="0" dirty="0">
              <a:ln>
                <a:noFill/>
              </a:ln>
              <a:solidFill>
                <a:srgbClr val="4F062A"/>
              </a:solidFill>
              <a:effectLst/>
              <a:uLnTx/>
              <a:uFillTx/>
              <a:latin typeface="ForFuture Sans"/>
              <a:ea typeface="+mn-ea"/>
              <a:cs typeface="+mn-cs"/>
            </a:endParaRPr>
          </a:p>
          <a:p>
            <a:pPr marL="998220" marR="0" lvl="2" indent="-187325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050" b="0" i="0" u="none" strike="noStrike" kern="1200" cap="none" spc="0" normalizeH="0" baseline="0" noProof="0" dirty="0">
              <a:ln>
                <a:noFill/>
              </a:ln>
              <a:solidFill>
                <a:srgbClr val="4F062A"/>
              </a:solidFill>
              <a:effectLst/>
              <a:uLnTx/>
              <a:uFillTx/>
              <a:latin typeface="ForFuture Sans"/>
              <a:ea typeface="+mn-ea"/>
              <a:cs typeface="+mn-cs"/>
            </a:endParaRPr>
          </a:p>
          <a:p>
            <a:pPr marL="998220" marR="0" lvl="2" indent="-187325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050" b="0" i="0" u="none" strike="noStrike" kern="1200" cap="none" spc="0" normalizeH="0" baseline="0" noProof="0" dirty="0">
              <a:ln>
                <a:noFill/>
              </a:ln>
              <a:solidFill>
                <a:srgbClr val="4F062A"/>
              </a:solidFill>
              <a:effectLst/>
              <a:uLnTx/>
              <a:uFillTx/>
              <a:latin typeface="ForFuture Sans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05317F2-CB16-1DE3-C63D-574F084DE2B2}"/>
              </a:ext>
            </a:extLst>
          </p:cNvPr>
          <p:cNvSpPr txBox="1"/>
          <p:nvPr/>
        </p:nvSpPr>
        <p:spPr>
          <a:xfrm>
            <a:off x="315952" y="4209752"/>
            <a:ext cx="3252439" cy="1058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7312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it-IT" sz="1600" dirty="0" err="1"/>
              <a:t>Habilidades</a:t>
            </a:r>
            <a:r>
              <a:rPr lang="es-PE" sz="1600" dirty="0"/>
              <a:t>​</a:t>
            </a:r>
          </a:p>
          <a:p>
            <a:pPr marL="177800" lvl="2" indent="-177800" rtl="0">
              <a:lnSpc>
                <a:spcPts val="1600"/>
              </a:lnSpc>
              <a:buFont typeface="Wingdings,Sans-Serif"/>
              <a:buChar char="§"/>
            </a:pPr>
            <a:r>
              <a:rPr lang="es-ES" sz="1100" dirty="0">
                <a:solidFill>
                  <a:srgbClr val="4F062A"/>
                </a:solidFill>
                <a:latin typeface="ForFuture Sans"/>
                <a:ea typeface="Arial"/>
                <a:cs typeface="Arial"/>
              </a:rPr>
              <a:t>Dominio de herramientas de </a:t>
            </a:r>
            <a:r>
              <a:rPr lang="es-ES" sz="1100" dirty="0" err="1">
                <a:solidFill>
                  <a:srgbClr val="4F062A"/>
                </a:solidFill>
                <a:latin typeface="ForFuture Sans"/>
                <a:ea typeface="Arial"/>
                <a:cs typeface="Arial"/>
              </a:rPr>
              <a:t>analytics</a:t>
            </a:r>
            <a:r>
              <a:rPr lang="es-ES" sz="1100" dirty="0">
                <a:solidFill>
                  <a:srgbClr val="4F062A"/>
                </a:solidFill>
                <a:latin typeface="ForFuture Sans"/>
                <a:ea typeface="Arial"/>
                <a:cs typeface="Arial"/>
              </a:rPr>
              <a:t> y BI</a:t>
            </a:r>
            <a:r>
              <a:rPr lang="en-US" sz="1100" dirty="0">
                <a:solidFill>
                  <a:srgbClr val="4F062A"/>
                </a:solidFill>
                <a:latin typeface="ForFuture Sans"/>
                <a:ea typeface="Arial"/>
                <a:cs typeface="Arial"/>
              </a:rPr>
              <a:t>​</a:t>
            </a:r>
          </a:p>
          <a:p>
            <a:pPr marL="177800" lvl="2" indent="-177800" rtl="0">
              <a:lnSpc>
                <a:spcPts val="1600"/>
              </a:lnSpc>
              <a:buFont typeface="Wingdings,Sans-Serif"/>
              <a:buChar char="§"/>
            </a:pPr>
            <a:r>
              <a:rPr lang="es-ES" sz="1100" dirty="0">
                <a:solidFill>
                  <a:srgbClr val="4F062A"/>
                </a:solidFill>
                <a:latin typeface="ForFuture Sans"/>
                <a:ea typeface="Arial"/>
                <a:cs typeface="Arial"/>
              </a:rPr>
              <a:t>Gestión Agile</a:t>
            </a:r>
            <a:r>
              <a:rPr lang="en-US" sz="1100" dirty="0">
                <a:solidFill>
                  <a:srgbClr val="4F062A"/>
                </a:solidFill>
                <a:latin typeface="ForFuture Sans"/>
                <a:ea typeface="Arial"/>
                <a:cs typeface="Arial"/>
              </a:rPr>
              <a:t>​</a:t>
            </a:r>
          </a:p>
          <a:p>
            <a:pPr marL="177800" lvl="2" indent="-177800" rtl="0">
              <a:lnSpc>
                <a:spcPts val="1600"/>
              </a:lnSpc>
              <a:buFont typeface="Wingdings,Sans-Serif"/>
              <a:buChar char="§"/>
            </a:pPr>
            <a:r>
              <a:rPr lang="es-ES" sz="1100" dirty="0">
                <a:solidFill>
                  <a:srgbClr val="4F062A"/>
                </a:solidFill>
                <a:latin typeface="ForFuture Sans"/>
                <a:ea typeface="Arial"/>
                <a:cs typeface="Arial"/>
              </a:rPr>
              <a:t>Mejora de la gestión de los datos</a:t>
            </a:r>
          </a:p>
          <a:p>
            <a:pPr marL="177800" lvl="2" indent="-177800" rtl="0">
              <a:lnSpc>
                <a:spcPts val="1600"/>
              </a:lnSpc>
              <a:buFont typeface="Wingdings,Sans-Serif"/>
              <a:buChar char="§"/>
            </a:pPr>
            <a:r>
              <a:rPr lang="es-ES" sz="1100" dirty="0">
                <a:solidFill>
                  <a:srgbClr val="4F062A"/>
                </a:solidFill>
                <a:latin typeface="ForFuture Sans"/>
                <a:ea typeface="Arial"/>
                <a:cs typeface="Arial"/>
              </a:rPr>
              <a:t>Pensamiento crítico y analítico</a:t>
            </a: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C6714082-9455-84FC-A986-92E74139D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r>
              <a:rPr lang="en-US" dirty="0">
                <a:solidFill>
                  <a:schemeClr val="bg1"/>
                </a:solidFill>
              </a:rPr>
              <a:t>DZ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s-ES" dirty="0">
                <a:solidFill>
                  <a:schemeClr val="bg1"/>
                </a:solidFill>
              </a:rPr>
            </a:br>
            <a:r>
              <a:rPr lang="es-ES" sz="1800" dirty="0">
                <a:solidFill>
                  <a:schemeClr val="bg1"/>
                </a:solidFill>
              </a:rPr>
              <a:t>Consultor de Negocios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6470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2.xml><?xml version="1.0" encoding="utf-8"?>
<a:theme xmlns:a="http://schemas.openxmlformats.org/drawingml/2006/main" name="1_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ción9" id="{E22C70C6-48CA-4FBF-89D2-16C64CA332B8}" vid="{B67F5FF0-A9C8-4D90-8E73-4CE35CEAC471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08e005-1489-4374-954b-d3b08f193920}" enabled="0" method="" siteId="{7808e005-1489-4374-954b-d3b08f19392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359</Words>
  <Application>Microsoft Office PowerPoint</Application>
  <PresentationFormat>Panorámica</PresentationFormat>
  <Paragraphs>26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1" baseType="lpstr">
      <vt:lpstr>Aptos</vt:lpstr>
      <vt:lpstr>Arial</vt:lpstr>
      <vt:lpstr>ForFuture Sans</vt:lpstr>
      <vt:lpstr>Playfair Display</vt:lpstr>
      <vt:lpstr>Soho Gothic Pro</vt:lpstr>
      <vt:lpstr>Soho Gothic Pro Light</vt:lpstr>
      <vt:lpstr>Wingdings,Sans-Serif</vt:lpstr>
      <vt:lpstr>CONTENIDO</vt:lpstr>
      <vt:lpstr>1_CONTENIDO</vt:lpstr>
      <vt:lpstr>Diapositiva de think-cell</vt:lpstr>
      <vt:lpstr>DZ  Consultor de Negocios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Zaplana Del Carpio, Luis David</dc:creator>
  <cp:lastModifiedBy>Zaplana Del Carpio, Luis David</cp:lastModifiedBy>
  <cp:revision>18</cp:revision>
  <dcterms:created xsi:type="dcterms:W3CDTF">2025-11-10T15:58:01Z</dcterms:created>
  <dcterms:modified xsi:type="dcterms:W3CDTF">2026-03-13T20:55:45Z</dcterms:modified>
</cp:coreProperties>
</file>